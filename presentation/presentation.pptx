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8"/>
  </p:normalViewPr>
  <p:slideViewPr>
    <p:cSldViewPr snapToGrid="0" snapToObjects="1">
      <p:cViewPr>
        <p:scale>
          <a:sx n="111" d="100"/>
          <a:sy n="111" d="100"/>
        </p:scale>
        <p:origin x="82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CBD5E1"/>
                </a:solidFill>
              </a:rPr>
              <a:t>FastAPI as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288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dirty="0">
                <a:solidFill>
                  <a:srgbClr val="FFFFFF"/>
                </a:solidFill>
              </a:rPr>
              <a:t>Microservice Gateway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880360"/>
            <a:ext cx="5029200" cy="594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3063240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chemeClr val="bg1"/>
                </a:solidFill>
              </a:rPr>
              <a:t>Building an Async, Event-Driven Pipeline in 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30445"/>
            <a:ext cx="6766560" cy="1349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4005072"/>
            <a:ext cx="6310125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600" dirty="0"/>
              <a:t>Student:     </a:t>
            </a:r>
            <a:r>
              <a:rPr lang="en-US" sz="1600" dirty="0"/>
              <a:t>  </a:t>
            </a:r>
            <a:r>
              <a:rPr sz="1600" dirty="0"/>
              <a:t> Alireza Dantism  (</a:t>
            </a:r>
            <a:r>
              <a:rPr lang="en-US" sz="1600" dirty="0" err="1"/>
              <a:t>učo</a:t>
            </a:r>
            <a:r>
              <a:rPr sz="1600" dirty="0"/>
              <a:t> 256649)</a:t>
            </a:r>
          </a:p>
          <a:p>
            <a:pPr>
              <a:spcBef>
                <a:spcPts val="600"/>
              </a:spcBef>
            </a:pPr>
            <a:r>
              <a:rPr sz="1600" dirty="0"/>
              <a:t>Supervisor:   </a:t>
            </a:r>
            <a:r>
              <a:rPr lang="en-US" sz="1600" dirty="0" err="1"/>
              <a:t>RNDr</a:t>
            </a:r>
            <a:r>
              <a:rPr lang="en-US" sz="1600" dirty="0"/>
              <a:t>. Michal Batko, Ph.D.</a:t>
            </a:r>
          </a:p>
          <a:p>
            <a:pPr>
              <a:spcBef>
                <a:spcPts val="600"/>
              </a:spcBef>
            </a:pPr>
            <a:r>
              <a:rPr sz="1600" dirty="0"/>
              <a:t>Course:      </a:t>
            </a:r>
            <a:r>
              <a:rPr lang="en-US" sz="1600" dirty="0"/>
              <a:t>   </a:t>
            </a:r>
            <a:r>
              <a:rPr sz="1600" dirty="0"/>
              <a:t> FI: PA053 Distributed Systems and Middleware (Spring 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4552" y="6505623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i="0" dirty="0"/>
              <a:t>1 / 10</a:t>
            </a:r>
          </a:p>
        </p:txBody>
      </p:sp>
      <p:pic>
        <p:nvPicPr>
          <p:cNvPr id="17" name="Picture 16" descr="Blue letters on a white background&#10;&#10;AI-generated content may be incorrect.">
            <a:extLst>
              <a:ext uri="{FF2B5EF4-FFF2-40B4-BE49-F238E27FC236}">
                <a16:creationId xmlns:a16="http://schemas.microsoft.com/office/drawing/2014/main" id="{8A13BB4C-F3DA-57E4-FB84-5F9602AA0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578" y="2083065"/>
            <a:ext cx="2996597" cy="23093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0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295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</a:rPr>
              <a:t>Why </a:t>
            </a:r>
            <a:r>
              <a:rPr sz="2700" b="1" i="0" dirty="0" err="1">
                <a:solidFill>
                  <a:srgbClr val="FFFFFF"/>
                </a:solidFill>
              </a:rPr>
              <a:t>FastAPI</a:t>
            </a:r>
            <a:r>
              <a:rPr sz="2700" b="1" i="0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640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bg1"/>
                </a:solidFill>
              </a:rPr>
              <a:t>A modern Python web framework built for speed and correctness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7680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dirty="0">
                <a:solidFill>
                  <a:srgbClr val="0F172A"/>
                </a:solidFill>
              </a:rPr>
              <a:t>▸  Async-first — built on ASGI (Starlette), handles concurrent I/O natively</a:t>
            </a:r>
          </a:p>
          <a:p>
            <a:pPr>
              <a:spcBef>
                <a:spcPts val="500"/>
              </a:spcBef>
            </a:pPr>
            <a:r>
              <a:rPr sz="1700" dirty="0">
                <a:solidFill>
                  <a:srgbClr val="0F172A"/>
                </a:solidFill>
              </a:rPr>
              <a:t>▸  Type hints everywhere — Python annotations drive validation, docs, and </a:t>
            </a:r>
            <a:r>
              <a:rPr sz="1700" dirty="0" err="1">
                <a:solidFill>
                  <a:srgbClr val="0F172A"/>
                </a:solidFill>
              </a:rPr>
              <a:t>serialisation</a:t>
            </a:r>
            <a:endParaRPr sz="1700" dirty="0">
              <a:solidFill>
                <a:srgbClr val="0F172A"/>
              </a:solidFill>
            </a:endParaRPr>
          </a:p>
          <a:p>
            <a:pPr>
              <a:spcBef>
                <a:spcPts val="500"/>
              </a:spcBef>
            </a:pPr>
            <a:r>
              <a:rPr sz="1700" dirty="0">
                <a:solidFill>
                  <a:srgbClr val="0F172A"/>
                </a:solidFill>
              </a:rPr>
              <a:t>▸  </a:t>
            </a:r>
            <a:r>
              <a:rPr sz="1700" dirty="0" err="1">
                <a:solidFill>
                  <a:srgbClr val="0F172A"/>
                </a:solidFill>
              </a:rPr>
              <a:t>Pydantic</a:t>
            </a:r>
            <a:r>
              <a:rPr sz="1700" dirty="0">
                <a:solidFill>
                  <a:srgbClr val="0F172A"/>
                </a:solidFill>
              </a:rPr>
              <a:t> integration — request validated automatically before your handler runs</a:t>
            </a:r>
          </a:p>
          <a:p>
            <a:pPr>
              <a:spcBef>
                <a:spcPts val="500"/>
              </a:spcBef>
            </a:pPr>
            <a:r>
              <a:rPr sz="1700" dirty="0">
                <a:solidFill>
                  <a:srgbClr val="0F172A"/>
                </a:solidFill>
              </a:rPr>
              <a:t>▸  Auto-generated docs — </a:t>
            </a:r>
            <a:r>
              <a:rPr sz="1700" dirty="0" err="1">
                <a:solidFill>
                  <a:srgbClr val="0F172A"/>
                </a:solidFill>
              </a:rPr>
              <a:t>OpenAPI</a:t>
            </a:r>
            <a:r>
              <a:rPr sz="1700" dirty="0">
                <a:solidFill>
                  <a:srgbClr val="0F172A"/>
                </a:solidFill>
              </a:rPr>
              <a:t> (Swagger UI + </a:t>
            </a:r>
            <a:r>
              <a:rPr sz="1700" dirty="0" err="1">
                <a:solidFill>
                  <a:srgbClr val="0F172A"/>
                </a:solidFill>
              </a:rPr>
              <a:t>ReDoc</a:t>
            </a:r>
            <a:r>
              <a:rPr sz="1700" dirty="0">
                <a:solidFill>
                  <a:srgbClr val="0F172A"/>
                </a:solidFill>
              </a:rPr>
              <a:t>) at runtime, zero extra work</a:t>
            </a:r>
          </a:p>
          <a:p>
            <a:pPr>
              <a:spcBef>
                <a:spcPts val="500"/>
              </a:spcBef>
            </a:pPr>
            <a:r>
              <a:rPr sz="1700" dirty="0">
                <a:solidFill>
                  <a:srgbClr val="0F172A"/>
                </a:solidFill>
              </a:rPr>
              <a:t>▸  Dependency Injection — clean, testable wiring of DB sessions, config, and auth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325880"/>
            <a:ext cx="3547872" cy="3200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21040" y="1325880"/>
            <a:ext cx="3547872" cy="6579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463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20240"/>
            <a:ext cx="3200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/>
              <a:t>Comparable to
Node.js and Go
~3–5× faster than
Flask / Django
on I/O-bound workloads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074920"/>
            <a:ext cx="11548872" cy="1078992"/>
          </a:xfrm>
          <a:prstGeom prst="rect">
            <a:avLst/>
          </a:prstGeom>
          <a:solidFill>
            <a:srgbClr val="CC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5074920"/>
            <a:ext cx="59436" cy="10789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5453783"/>
            <a:ext cx="11274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/>
              <a:t>“If your code imports </a:t>
            </a:r>
            <a:r>
              <a:rPr sz="1600" b="0" i="1" dirty="0" err="1"/>
              <a:t>FastAPI</a:t>
            </a:r>
            <a:r>
              <a:rPr sz="1600" b="0" i="1" dirty="0"/>
              <a:t> and </a:t>
            </a:r>
            <a:r>
              <a:rPr sz="1600" b="0" i="1" dirty="0" err="1"/>
              <a:t>Pydantic</a:t>
            </a:r>
            <a:r>
              <a:rPr sz="1600" b="0" i="1" dirty="0"/>
              <a:t>, you already have a contract, a validator, and a live documentation site — for free.”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535062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i="0" dirty="0"/>
              <a:t>2 / 10</a:t>
            </a:r>
          </a:p>
        </p:txBody>
      </p:sp>
      <p:pic>
        <p:nvPicPr>
          <p:cNvPr id="21" name="Picture 20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D8DCCDA-1260-6777-55AD-E1290727E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978" y="88114"/>
            <a:ext cx="1397934" cy="10773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0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806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640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bg1"/>
                </a:solidFill>
              </a:rPr>
              <a:t>7 Docker Compose services orchestrated together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74552" y="6546213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i="0" dirty="0"/>
              <a:t>3 / 10</a:t>
            </a:r>
          </a:p>
        </p:txBody>
      </p:sp>
      <p:pic>
        <p:nvPicPr>
          <p:cNvPr id="47" name="Picture 46" descr="A diagram of a data flow&#10;&#10;AI-generated content may be incorrect.">
            <a:extLst>
              <a:ext uri="{FF2B5EF4-FFF2-40B4-BE49-F238E27FC236}">
                <a16:creationId xmlns:a16="http://schemas.microsoft.com/office/drawing/2014/main" id="{AE6B7C66-0688-341C-F1F0-33B8940B7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890" y="1340854"/>
            <a:ext cx="10375492" cy="5336498"/>
          </a:xfrm>
          <a:prstGeom prst="rect">
            <a:avLst/>
          </a:prstGeom>
        </p:spPr>
      </p:pic>
      <p:pic>
        <p:nvPicPr>
          <p:cNvPr id="48" name="Picture 47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213E5F20-7259-3B27-EADD-079B61E99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978" y="88114"/>
            <a:ext cx="1397934" cy="10773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0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295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 err="1">
                <a:solidFill>
                  <a:srgbClr val="FFFFFF"/>
                </a:solidFill>
              </a:rPr>
              <a:t>FastAPI</a:t>
            </a:r>
            <a:r>
              <a:rPr sz="2700" b="1" i="0" dirty="0">
                <a:solidFill>
                  <a:srgbClr val="FFFFFF"/>
                </a:solidFill>
              </a:rPr>
              <a:t> Routing &amp; Path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640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bg1"/>
                </a:solidFill>
              </a:rPr>
              <a:t>Declarative, type-safe route definitions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7178040" cy="4480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39" y="1298448"/>
            <a:ext cx="407189" cy="44805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389888"/>
            <a:ext cx="6506909" cy="3046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Courier New"/>
              </a:rPr>
              <a:t># </a:t>
            </a:r>
            <a:r>
              <a:rPr sz="1200" dirty="0" err="1">
                <a:latin typeface="Courier New"/>
              </a:rPr>
              <a:t>api</a:t>
            </a:r>
            <a:r>
              <a:rPr sz="1200" dirty="0">
                <a:latin typeface="Courier New"/>
              </a:rPr>
              <a:t>/v1/</a:t>
            </a:r>
            <a:r>
              <a:rPr sz="1200" dirty="0" err="1">
                <a:latin typeface="Courier New"/>
              </a:rPr>
              <a:t>runs.py</a:t>
            </a:r>
            <a:endParaRPr sz="1200" dirty="0">
              <a:latin typeface="Courier New"/>
            </a:endParaRPr>
          </a:p>
          <a:p>
            <a:r>
              <a:rPr sz="1200" b="1" dirty="0">
                <a:latin typeface="Courier New"/>
              </a:rPr>
              <a:t>@</a:t>
            </a:r>
            <a:r>
              <a:rPr sz="1200" b="1" dirty="0" err="1">
                <a:latin typeface="Courier New"/>
              </a:rPr>
              <a:t>router.get</a:t>
            </a:r>
            <a:r>
              <a:rPr sz="1200" b="1" dirty="0">
                <a:latin typeface="Courier New"/>
              </a:rPr>
              <a:t>("/{</a:t>
            </a:r>
            <a:r>
              <a:rPr sz="1200" b="1" dirty="0" err="1">
                <a:latin typeface="Courier New"/>
              </a:rPr>
              <a:t>uuid</a:t>
            </a:r>
            <a:r>
              <a:rPr sz="1200" b="1" dirty="0">
                <a:latin typeface="Courier New"/>
              </a:rPr>
              <a:t>}", </a:t>
            </a:r>
            <a:r>
              <a:rPr sz="1200" b="1" dirty="0" err="1">
                <a:latin typeface="Courier New"/>
              </a:rPr>
              <a:t>response_model</a:t>
            </a:r>
            <a:r>
              <a:rPr sz="1200" b="1" dirty="0">
                <a:latin typeface="Courier New"/>
              </a:rPr>
              <a:t>=</a:t>
            </a:r>
            <a:r>
              <a:rPr sz="1200" b="1" dirty="0" err="1">
                <a:latin typeface="Courier New"/>
              </a:rPr>
              <a:t>ShowRun</a:t>
            </a:r>
            <a:r>
              <a:rPr sz="1200" b="1" dirty="0">
                <a:latin typeface="Courier New"/>
              </a:rPr>
              <a:t>)</a:t>
            </a:r>
          </a:p>
          <a:p>
            <a:r>
              <a:rPr sz="1200" dirty="0">
                <a:latin typeface="Courier New"/>
              </a:rPr>
              <a:t>def </a:t>
            </a:r>
            <a:r>
              <a:rPr sz="1200" dirty="0" err="1">
                <a:latin typeface="Courier New"/>
              </a:rPr>
              <a:t>get_run</a:t>
            </a:r>
            <a:r>
              <a:rPr sz="1200" dirty="0">
                <a:latin typeface="Courier New"/>
              </a:rPr>
              <a:t>(</a:t>
            </a:r>
            <a:r>
              <a:rPr sz="1200" dirty="0" err="1">
                <a:latin typeface="Courier New"/>
              </a:rPr>
              <a:t>uuid</a:t>
            </a:r>
            <a:r>
              <a:rPr sz="1200" dirty="0">
                <a:latin typeface="Courier New"/>
              </a:rPr>
              <a:t>: UUID, </a:t>
            </a:r>
            <a:r>
              <a:rPr sz="1200" dirty="0" err="1">
                <a:latin typeface="Courier New"/>
              </a:rPr>
              <a:t>db</a:t>
            </a:r>
            <a:r>
              <a:rPr sz="1200" dirty="0">
                <a:latin typeface="Courier New"/>
              </a:rPr>
              <a:t>: Session = Depends(</a:t>
            </a:r>
            <a:r>
              <a:rPr sz="1200" dirty="0" err="1">
                <a:latin typeface="Courier New"/>
              </a:rPr>
              <a:t>get_db</a:t>
            </a:r>
            <a:r>
              <a:rPr sz="1200" dirty="0">
                <a:latin typeface="Courier New"/>
              </a:rPr>
              <a:t>)):</a:t>
            </a:r>
          </a:p>
          <a:p>
            <a:r>
              <a:rPr sz="1200" dirty="0">
                <a:latin typeface="Courier New"/>
              </a:rPr>
              <a:t>    run = </a:t>
            </a:r>
            <a:r>
              <a:rPr sz="1200" dirty="0" err="1">
                <a:latin typeface="Courier New"/>
              </a:rPr>
              <a:t>run_repo.get_run</a:t>
            </a:r>
            <a:r>
              <a:rPr sz="1200" dirty="0">
                <a:latin typeface="Courier New"/>
              </a:rPr>
              <a:t>(</a:t>
            </a:r>
            <a:r>
              <a:rPr sz="1200" dirty="0" err="1">
                <a:latin typeface="Courier New"/>
              </a:rPr>
              <a:t>db</a:t>
            </a:r>
            <a:r>
              <a:rPr sz="1200" dirty="0">
                <a:latin typeface="Courier New"/>
              </a:rPr>
              <a:t>, </a:t>
            </a:r>
            <a:r>
              <a:rPr sz="1200" dirty="0" err="1">
                <a:latin typeface="Courier New"/>
              </a:rPr>
              <a:t>uuid</a:t>
            </a:r>
            <a:r>
              <a:rPr sz="1200" dirty="0">
                <a:latin typeface="Courier New"/>
              </a:rPr>
              <a:t>)</a:t>
            </a:r>
          </a:p>
          <a:p>
            <a:r>
              <a:rPr sz="1200" dirty="0">
                <a:latin typeface="Courier New"/>
              </a:rPr>
              <a:t>    if not run:</a:t>
            </a:r>
          </a:p>
          <a:p>
            <a:r>
              <a:rPr sz="1200" dirty="0">
                <a:latin typeface="Courier New"/>
              </a:rPr>
              <a:t>        raise </a:t>
            </a:r>
            <a:r>
              <a:rPr sz="1200" dirty="0" err="1">
                <a:latin typeface="Courier New"/>
              </a:rPr>
              <a:t>HTTPException</a:t>
            </a:r>
            <a:r>
              <a:rPr sz="1200" dirty="0">
                <a:latin typeface="Courier New"/>
              </a:rPr>
              <a:t>(</a:t>
            </a:r>
            <a:r>
              <a:rPr sz="1200" dirty="0" err="1">
                <a:latin typeface="Courier New"/>
              </a:rPr>
              <a:t>status_code</a:t>
            </a:r>
            <a:r>
              <a:rPr sz="1200" dirty="0">
                <a:latin typeface="Courier New"/>
              </a:rPr>
              <a:t>=404, detail="Run not found")</a:t>
            </a:r>
          </a:p>
          <a:p>
            <a:r>
              <a:rPr sz="1200" dirty="0">
                <a:latin typeface="Courier New"/>
              </a:rPr>
              <a:t>    return run</a:t>
            </a:r>
          </a:p>
          <a:p>
            <a:endParaRPr sz="1200" dirty="0">
              <a:latin typeface="Courier New"/>
            </a:endParaRPr>
          </a:p>
          <a:p>
            <a:r>
              <a:rPr sz="1200" b="1" dirty="0">
                <a:latin typeface="Courier New"/>
              </a:rPr>
              <a:t>@</a:t>
            </a:r>
            <a:r>
              <a:rPr sz="1200" b="1" dirty="0" err="1">
                <a:latin typeface="Courier New"/>
              </a:rPr>
              <a:t>router.post</a:t>
            </a:r>
            <a:r>
              <a:rPr sz="1200" b="1" dirty="0">
                <a:latin typeface="Courier New"/>
              </a:rPr>
              <a:t>("/{</a:t>
            </a:r>
            <a:r>
              <a:rPr sz="1200" b="1" dirty="0" err="1">
                <a:latin typeface="Courier New"/>
              </a:rPr>
              <a:t>uuid</a:t>
            </a:r>
            <a:r>
              <a:rPr sz="1200" b="1" dirty="0">
                <a:latin typeface="Courier New"/>
              </a:rPr>
              <a:t>}/start-upload", </a:t>
            </a:r>
            <a:r>
              <a:rPr sz="1200" b="1" dirty="0" err="1">
                <a:latin typeface="Courier New"/>
              </a:rPr>
              <a:t>response_model</a:t>
            </a:r>
            <a:r>
              <a:rPr sz="1200" b="1" dirty="0">
                <a:latin typeface="Courier New"/>
              </a:rPr>
              <a:t>=</a:t>
            </a:r>
            <a:r>
              <a:rPr sz="1200" b="1" dirty="0" err="1">
                <a:latin typeface="Courier New"/>
              </a:rPr>
              <a:t>ShowRun</a:t>
            </a:r>
            <a:r>
              <a:rPr sz="1200" b="1" dirty="0">
                <a:latin typeface="Courier New"/>
              </a:rPr>
              <a:t>)</a:t>
            </a:r>
          </a:p>
          <a:p>
            <a:r>
              <a:rPr sz="1200" dirty="0">
                <a:latin typeface="Courier New"/>
              </a:rPr>
              <a:t>def </a:t>
            </a:r>
            <a:r>
              <a:rPr sz="1200" dirty="0" err="1">
                <a:latin typeface="Courier New"/>
              </a:rPr>
              <a:t>start_upload</a:t>
            </a:r>
            <a:r>
              <a:rPr sz="1200" dirty="0">
                <a:latin typeface="Courier New"/>
              </a:rPr>
              <a:t>(</a:t>
            </a:r>
            <a:r>
              <a:rPr sz="1200" dirty="0" err="1">
                <a:latin typeface="Courier New"/>
              </a:rPr>
              <a:t>uuid</a:t>
            </a:r>
            <a:r>
              <a:rPr sz="1200" dirty="0">
                <a:latin typeface="Courier New"/>
              </a:rPr>
              <a:t>: UUID, </a:t>
            </a:r>
            <a:r>
              <a:rPr sz="1200" dirty="0" err="1">
                <a:latin typeface="Courier New"/>
              </a:rPr>
              <a:t>db</a:t>
            </a:r>
            <a:r>
              <a:rPr sz="1200" dirty="0">
                <a:latin typeface="Courier New"/>
              </a:rPr>
              <a:t>: Session = Depends(</a:t>
            </a:r>
            <a:r>
              <a:rPr sz="1200" dirty="0" err="1">
                <a:latin typeface="Courier New"/>
              </a:rPr>
              <a:t>get_db</a:t>
            </a:r>
            <a:r>
              <a:rPr sz="1200" dirty="0">
                <a:latin typeface="Courier New"/>
              </a:rPr>
              <a:t>)):</a:t>
            </a:r>
          </a:p>
          <a:p>
            <a:r>
              <a:rPr sz="1200" dirty="0">
                <a:latin typeface="Courier New"/>
              </a:rPr>
              <a:t>    run = </a:t>
            </a:r>
            <a:r>
              <a:rPr sz="1200" dirty="0" err="1">
                <a:latin typeface="Courier New"/>
              </a:rPr>
              <a:t>run_repo.get_run</a:t>
            </a:r>
            <a:r>
              <a:rPr sz="1200" dirty="0">
                <a:latin typeface="Courier New"/>
              </a:rPr>
              <a:t>(</a:t>
            </a:r>
            <a:r>
              <a:rPr sz="1200" dirty="0" err="1">
                <a:latin typeface="Courier New"/>
              </a:rPr>
              <a:t>db</a:t>
            </a:r>
            <a:r>
              <a:rPr sz="1200" dirty="0">
                <a:latin typeface="Courier New"/>
              </a:rPr>
              <a:t>, </a:t>
            </a:r>
            <a:r>
              <a:rPr sz="1200" dirty="0" err="1">
                <a:latin typeface="Courier New"/>
              </a:rPr>
              <a:t>uuid</a:t>
            </a:r>
            <a:r>
              <a:rPr sz="1200" dirty="0">
                <a:latin typeface="Courier New"/>
              </a:rPr>
              <a:t>)</a:t>
            </a:r>
          </a:p>
          <a:p>
            <a:r>
              <a:rPr sz="1200" dirty="0">
                <a:latin typeface="Courier New"/>
              </a:rPr>
              <a:t>    if </a:t>
            </a:r>
            <a:r>
              <a:rPr sz="1200" dirty="0" err="1">
                <a:latin typeface="Courier New"/>
              </a:rPr>
              <a:t>run.status</a:t>
            </a:r>
            <a:r>
              <a:rPr sz="1200" dirty="0">
                <a:latin typeface="Courier New"/>
              </a:rPr>
              <a:t> not in ("</a:t>
            </a:r>
            <a:r>
              <a:rPr sz="1200" dirty="0" err="1">
                <a:latin typeface="Courier New"/>
              </a:rPr>
              <a:t>running_finished</a:t>
            </a:r>
            <a:r>
              <a:rPr sz="1200" dirty="0">
                <a:latin typeface="Courier New"/>
              </a:rPr>
              <a:t>", "</a:t>
            </a:r>
            <a:r>
              <a:rPr sz="1200" dirty="0" err="1">
                <a:latin typeface="Courier New"/>
              </a:rPr>
              <a:t>move_failed</a:t>
            </a:r>
            <a:r>
              <a:rPr sz="1200" dirty="0">
                <a:latin typeface="Courier New"/>
              </a:rPr>
              <a:t>"):</a:t>
            </a:r>
          </a:p>
          <a:p>
            <a:r>
              <a:rPr sz="1200" dirty="0">
                <a:latin typeface="Courier New"/>
              </a:rPr>
              <a:t>        raise </a:t>
            </a:r>
            <a:r>
              <a:rPr sz="1200" dirty="0" err="1">
                <a:latin typeface="Courier New"/>
              </a:rPr>
              <a:t>HTTPException</a:t>
            </a:r>
            <a:r>
              <a:rPr sz="1200" dirty="0">
                <a:latin typeface="Courier New"/>
              </a:rPr>
              <a:t>(</a:t>
            </a:r>
            <a:r>
              <a:rPr sz="1200" dirty="0" err="1">
                <a:latin typeface="Courier New"/>
              </a:rPr>
              <a:t>status_code</a:t>
            </a:r>
            <a:r>
              <a:rPr sz="1200" dirty="0">
                <a:latin typeface="Courier New"/>
              </a:rPr>
              <a:t>=409, detail="Invalid state")</a:t>
            </a:r>
          </a:p>
          <a:p>
            <a:r>
              <a:rPr sz="1200" dirty="0">
                <a:latin typeface="Courier New"/>
              </a:rPr>
              <a:t>    </a:t>
            </a:r>
            <a:r>
              <a:rPr sz="1200" dirty="0" err="1">
                <a:latin typeface="Courier New"/>
              </a:rPr>
              <a:t>publisher.publish</a:t>
            </a:r>
            <a:r>
              <a:rPr sz="1200" dirty="0">
                <a:latin typeface="Courier New"/>
              </a:rPr>
              <a:t>("</a:t>
            </a:r>
            <a:r>
              <a:rPr sz="1200" dirty="0" err="1">
                <a:latin typeface="Courier New"/>
              </a:rPr>
              <a:t>run_checksum_requested</a:t>
            </a:r>
            <a:r>
              <a:rPr sz="1200" dirty="0">
                <a:latin typeface="Courier New"/>
              </a:rPr>
              <a:t>", </a:t>
            </a:r>
            <a:r>
              <a:rPr sz="1200" dirty="0" err="1">
                <a:latin typeface="Courier New"/>
              </a:rPr>
              <a:t>run.name</a:t>
            </a:r>
            <a:r>
              <a:rPr sz="1200" dirty="0">
                <a:latin typeface="Courier New"/>
              </a:rPr>
              <a:t>,</a:t>
            </a:r>
          </a:p>
          <a:p>
            <a:r>
              <a:rPr sz="1200" dirty="0">
                <a:latin typeface="Courier New"/>
              </a:rPr>
              <a:t>                      str(</a:t>
            </a:r>
            <a:r>
              <a:rPr sz="1200" dirty="0" err="1">
                <a:latin typeface="Courier New"/>
              </a:rPr>
              <a:t>run.sequencer_uuid</a:t>
            </a:r>
            <a:r>
              <a:rPr sz="1200" dirty="0">
                <a:latin typeface="Courier New"/>
              </a:rPr>
              <a:t>))</a:t>
            </a:r>
          </a:p>
          <a:p>
            <a:r>
              <a:rPr sz="1200" dirty="0">
                <a:latin typeface="Courier New"/>
              </a:rPr>
              <a:t>    return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5" y="1389888"/>
            <a:ext cx="370614" cy="30469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334A60"/>
                </a:solidFill>
                <a:latin typeface="Courier New"/>
              </a:rPr>
              <a:t>1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2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3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4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5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6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7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8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9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10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11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12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13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14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15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298448"/>
            <a:ext cx="4251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dirty="0">
                <a:solidFill>
                  <a:srgbClr val="0F172A"/>
                </a:solidFill>
              </a:rPr>
              <a:t>▸  UUID path params — parsed &amp; validated automatically</a:t>
            </a:r>
          </a:p>
          <a:p>
            <a:pPr>
              <a:spcBef>
                <a:spcPts val="500"/>
              </a:spcBef>
            </a:pPr>
            <a:r>
              <a:rPr sz="1400" dirty="0">
                <a:solidFill>
                  <a:srgbClr val="0F172A"/>
                </a:solidFill>
              </a:rPr>
              <a:t>▸  Depends(</a:t>
            </a:r>
            <a:r>
              <a:rPr sz="1400" dirty="0" err="1">
                <a:solidFill>
                  <a:srgbClr val="0F172A"/>
                </a:solidFill>
              </a:rPr>
              <a:t>get_db</a:t>
            </a:r>
            <a:r>
              <a:rPr sz="1400" dirty="0">
                <a:solidFill>
                  <a:srgbClr val="0F172A"/>
                </a:solidFill>
              </a:rPr>
              <a:t>) — DB session lifecycle via DI</a:t>
            </a:r>
          </a:p>
          <a:p>
            <a:pPr>
              <a:spcBef>
                <a:spcPts val="500"/>
              </a:spcBef>
            </a:pPr>
            <a:r>
              <a:rPr sz="1400" dirty="0">
                <a:solidFill>
                  <a:srgbClr val="0F172A"/>
                </a:solidFill>
              </a:rPr>
              <a:t>▸  </a:t>
            </a:r>
            <a:r>
              <a:rPr sz="1400" dirty="0" err="1">
                <a:solidFill>
                  <a:srgbClr val="0F172A"/>
                </a:solidFill>
              </a:rPr>
              <a:t>response_model</a:t>
            </a:r>
            <a:r>
              <a:rPr sz="1400" dirty="0">
                <a:solidFill>
                  <a:srgbClr val="0F172A"/>
                </a:solidFill>
              </a:rPr>
              <a:t> — </a:t>
            </a:r>
            <a:r>
              <a:rPr sz="1400" dirty="0" err="1">
                <a:solidFill>
                  <a:srgbClr val="0F172A"/>
                </a:solidFill>
              </a:rPr>
              <a:t>Pydantic</a:t>
            </a:r>
            <a:r>
              <a:rPr sz="1400" dirty="0">
                <a:solidFill>
                  <a:srgbClr val="0F172A"/>
                </a:solidFill>
              </a:rPr>
              <a:t> filters the return value</a:t>
            </a:r>
          </a:p>
          <a:p>
            <a:pPr>
              <a:spcBef>
                <a:spcPts val="500"/>
              </a:spcBef>
            </a:pPr>
            <a:r>
              <a:rPr sz="1400" dirty="0">
                <a:solidFill>
                  <a:srgbClr val="0F172A"/>
                </a:solidFill>
              </a:rPr>
              <a:t>▸  </a:t>
            </a:r>
            <a:r>
              <a:rPr sz="1400" dirty="0" err="1">
                <a:solidFill>
                  <a:srgbClr val="0F172A"/>
                </a:solidFill>
              </a:rPr>
              <a:t>HTTPException</a:t>
            </a:r>
            <a:r>
              <a:rPr sz="1400" dirty="0">
                <a:solidFill>
                  <a:srgbClr val="0F172A"/>
                </a:solidFill>
              </a:rPr>
              <a:t> — structured JSON error responses</a:t>
            </a:r>
          </a:p>
          <a:p>
            <a:pPr>
              <a:spcBef>
                <a:spcPts val="500"/>
              </a:spcBef>
            </a:pPr>
            <a:r>
              <a:rPr sz="1400" dirty="0">
                <a:solidFill>
                  <a:srgbClr val="0F172A"/>
                </a:solidFill>
              </a:rPr>
              <a:t>▸  State machine enforced at the HTTP layer (409)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4552" y="6523911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i="0" dirty="0"/>
              <a:t>4 / 10</a:t>
            </a:r>
          </a:p>
        </p:txBody>
      </p:sp>
      <p:pic>
        <p:nvPicPr>
          <p:cNvPr id="18" name="Picture 17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36D303B1-86E7-DBB1-B032-4299B89EC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978" y="88114"/>
            <a:ext cx="1397934" cy="10773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0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806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 err="1">
                <a:solidFill>
                  <a:srgbClr val="FFFFFF"/>
                </a:solidFill>
              </a:rPr>
              <a:t>Pydantic</a:t>
            </a:r>
            <a:r>
              <a:rPr sz="2700" b="1" i="0" dirty="0">
                <a:solidFill>
                  <a:srgbClr val="FFFFFF"/>
                </a:solidFill>
              </a:rPr>
              <a:t>: Validation &amp; </a:t>
            </a:r>
            <a:r>
              <a:rPr sz="2700" b="1" i="0" dirty="0" err="1">
                <a:solidFill>
                  <a:srgbClr val="FFFFFF"/>
                </a:solidFill>
              </a:rPr>
              <a:t>Serialisation</a:t>
            </a:r>
            <a:endParaRPr sz="2700" b="1" i="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640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bg1"/>
                </a:solidFill>
              </a:rPr>
              <a:t>Schemas are the contract between client and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7040880" cy="4892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344168"/>
            <a:ext cx="384048" cy="48463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311831"/>
            <a:ext cx="5949064" cy="415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latin typeface="Courier New"/>
              </a:rPr>
              <a:t># schemas/</a:t>
            </a:r>
            <a:r>
              <a:rPr sz="1200" dirty="0" err="1">
                <a:latin typeface="Courier New"/>
              </a:rPr>
              <a:t>sequencers.py</a:t>
            </a:r>
            <a:endParaRPr sz="1200" dirty="0">
              <a:latin typeface="Courier New"/>
            </a:endParaRPr>
          </a:p>
          <a:p>
            <a:r>
              <a:rPr sz="1200" b="1" dirty="0">
                <a:latin typeface="Courier New"/>
              </a:rPr>
              <a:t>class </a:t>
            </a:r>
            <a:r>
              <a:rPr sz="1200" b="1" dirty="0" err="1">
                <a:latin typeface="Courier New"/>
              </a:rPr>
              <a:t>SequencerCreate</a:t>
            </a:r>
            <a:r>
              <a:rPr sz="1200" b="1" dirty="0">
                <a:latin typeface="Courier New"/>
              </a:rPr>
              <a:t>(</a:t>
            </a:r>
            <a:r>
              <a:rPr sz="1200" b="1" dirty="0" err="1">
                <a:latin typeface="Courier New"/>
              </a:rPr>
              <a:t>BaseModel</a:t>
            </a:r>
            <a:r>
              <a:rPr sz="1200" b="1" dirty="0">
                <a:latin typeface="Courier New"/>
              </a:rPr>
              <a:t>):</a:t>
            </a:r>
          </a:p>
          <a:p>
            <a:r>
              <a:rPr sz="1200" dirty="0">
                <a:latin typeface="Courier New"/>
              </a:rPr>
              <a:t>    name: str</a:t>
            </a:r>
          </a:p>
          <a:p>
            <a:r>
              <a:rPr sz="1200" dirty="0">
                <a:latin typeface="Courier New"/>
              </a:rPr>
              <a:t>    location: str</a:t>
            </a:r>
          </a:p>
          <a:p>
            <a:r>
              <a:rPr sz="1200" dirty="0">
                <a:latin typeface="Courier New"/>
              </a:rPr>
              <a:t>    </a:t>
            </a:r>
            <a:r>
              <a:rPr sz="1200" dirty="0" err="1">
                <a:latin typeface="Courier New"/>
              </a:rPr>
              <a:t>sent_to_tre</a:t>
            </a:r>
            <a:r>
              <a:rPr sz="1200" dirty="0">
                <a:latin typeface="Courier New"/>
              </a:rPr>
              <a:t>: Literal["auto", "manual"] = "manual"</a:t>
            </a:r>
          </a:p>
          <a:p>
            <a:r>
              <a:rPr sz="1200" dirty="0">
                <a:latin typeface="Courier New"/>
              </a:rPr>
              <a:t>    </a:t>
            </a:r>
            <a:r>
              <a:rPr sz="1200" dirty="0" err="1">
                <a:latin typeface="Courier New"/>
              </a:rPr>
              <a:t>type_uuid</a:t>
            </a:r>
            <a:r>
              <a:rPr sz="1200" dirty="0">
                <a:latin typeface="Courier New"/>
              </a:rPr>
              <a:t>: UUID</a:t>
            </a:r>
          </a:p>
          <a:p>
            <a:endParaRPr sz="1200" dirty="0">
              <a:latin typeface="Courier New"/>
            </a:endParaRPr>
          </a:p>
          <a:p>
            <a:r>
              <a:rPr sz="1200" b="1" dirty="0">
                <a:latin typeface="Courier New"/>
              </a:rPr>
              <a:t>class </a:t>
            </a:r>
            <a:r>
              <a:rPr sz="1200" b="1" dirty="0" err="1">
                <a:latin typeface="Courier New"/>
              </a:rPr>
              <a:t>ShowSequencer</a:t>
            </a:r>
            <a:r>
              <a:rPr sz="1200" b="1" dirty="0">
                <a:latin typeface="Courier New"/>
              </a:rPr>
              <a:t>(</a:t>
            </a:r>
            <a:r>
              <a:rPr sz="1200" b="1" dirty="0" err="1">
                <a:latin typeface="Courier New"/>
              </a:rPr>
              <a:t>BaseModel</a:t>
            </a:r>
            <a:r>
              <a:rPr sz="1200" b="1" dirty="0">
                <a:latin typeface="Courier New"/>
              </a:rPr>
              <a:t>):</a:t>
            </a:r>
          </a:p>
          <a:p>
            <a:r>
              <a:rPr sz="1200" dirty="0">
                <a:latin typeface="Courier New"/>
              </a:rPr>
              <a:t>    </a:t>
            </a:r>
            <a:r>
              <a:rPr sz="1200" dirty="0" err="1">
                <a:latin typeface="Courier New"/>
              </a:rPr>
              <a:t>uuid</a:t>
            </a:r>
            <a:r>
              <a:rPr sz="1200" dirty="0">
                <a:latin typeface="Courier New"/>
              </a:rPr>
              <a:t>: UUID</a:t>
            </a:r>
          </a:p>
          <a:p>
            <a:r>
              <a:rPr sz="1200" dirty="0">
                <a:latin typeface="Courier New"/>
              </a:rPr>
              <a:t>    name: str</a:t>
            </a:r>
          </a:p>
          <a:p>
            <a:r>
              <a:rPr sz="1200" dirty="0">
                <a:latin typeface="Courier New"/>
              </a:rPr>
              <a:t>    status: str</a:t>
            </a:r>
          </a:p>
          <a:p>
            <a:r>
              <a:rPr sz="1200" dirty="0">
                <a:latin typeface="Courier New"/>
              </a:rPr>
              <a:t>    </a:t>
            </a:r>
            <a:r>
              <a:rPr sz="1200" dirty="0" err="1">
                <a:latin typeface="Courier New"/>
              </a:rPr>
              <a:t>sent_to_tre</a:t>
            </a:r>
            <a:r>
              <a:rPr sz="1200" dirty="0">
                <a:latin typeface="Courier New"/>
              </a:rPr>
              <a:t>: str</a:t>
            </a:r>
          </a:p>
          <a:p>
            <a:r>
              <a:rPr sz="1200" dirty="0">
                <a:latin typeface="Courier New"/>
              </a:rPr>
              <a:t>    </a:t>
            </a:r>
            <a:r>
              <a:rPr sz="1200" dirty="0" err="1">
                <a:latin typeface="Courier New"/>
              </a:rPr>
              <a:t>created_at</a:t>
            </a:r>
            <a:r>
              <a:rPr sz="1200" dirty="0">
                <a:latin typeface="Courier New"/>
              </a:rPr>
              <a:t>: datetime</a:t>
            </a:r>
          </a:p>
          <a:p>
            <a:r>
              <a:rPr sz="1200" dirty="0">
                <a:latin typeface="Courier New"/>
              </a:rPr>
              <a:t>    </a:t>
            </a:r>
            <a:r>
              <a:rPr sz="1200" dirty="0" err="1">
                <a:latin typeface="Courier New"/>
              </a:rPr>
              <a:t>model_config</a:t>
            </a:r>
            <a:r>
              <a:rPr sz="1200" dirty="0">
                <a:latin typeface="Courier New"/>
              </a:rPr>
              <a:t> = </a:t>
            </a:r>
            <a:r>
              <a:rPr sz="1200" dirty="0" err="1">
                <a:latin typeface="Courier New"/>
              </a:rPr>
              <a:t>ConfigDict</a:t>
            </a:r>
            <a:r>
              <a:rPr sz="1200" dirty="0">
                <a:latin typeface="Courier New"/>
              </a:rPr>
              <a:t>(</a:t>
            </a:r>
            <a:r>
              <a:rPr sz="1200" dirty="0" err="1">
                <a:latin typeface="Courier New"/>
              </a:rPr>
              <a:t>from_attributes</a:t>
            </a:r>
            <a:r>
              <a:rPr sz="1200" dirty="0">
                <a:latin typeface="Courier New"/>
              </a:rPr>
              <a:t>=True)</a:t>
            </a:r>
          </a:p>
          <a:p>
            <a:endParaRPr sz="1200" dirty="0">
              <a:latin typeface="Courier New"/>
            </a:endParaRPr>
          </a:p>
          <a:p>
            <a:r>
              <a:rPr sz="1200" dirty="0">
                <a:latin typeface="Courier New"/>
              </a:rPr>
              <a:t># schemas/</a:t>
            </a:r>
            <a:r>
              <a:rPr sz="1200" dirty="0" err="1">
                <a:latin typeface="Courier New"/>
              </a:rPr>
              <a:t>runs.py</a:t>
            </a:r>
            <a:endParaRPr sz="1200" dirty="0">
              <a:latin typeface="Courier New"/>
            </a:endParaRPr>
          </a:p>
          <a:p>
            <a:r>
              <a:rPr sz="1200" b="1" dirty="0">
                <a:latin typeface="Courier New"/>
              </a:rPr>
              <a:t>class </a:t>
            </a:r>
            <a:r>
              <a:rPr sz="1200" b="1" dirty="0" err="1">
                <a:latin typeface="Courier New"/>
              </a:rPr>
              <a:t>ShowRun</a:t>
            </a:r>
            <a:r>
              <a:rPr sz="1200" b="1" dirty="0">
                <a:latin typeface="Courier New"/>
              </a:rPr>
              <a:t>(</a:t>
            </a:r>
            <a:r>
              <a:rPr sz="1200" b="1" dirty="0" err="1">
                <a:latin typeface="Courier New"/>
              </a:rPr>
              <a:t>BaseModel</a:t>
            </a:r>
            <a:r>
              <a:rPr sz="1200" b="1" dirty="0">
                <a:latin typeface="Courier New"/>
              </a:rPr>
              <a:t>):</a:t>
            </a:r>
          </a:p>
          <a:p>
            <a:r>
              <a:rPr sz="1200" dirty="0">
                <a:latin typeface="Courier New"/>
              </a:rPr>
              <a:t>    </a:t>
            </a:r>
            <a:r>
              <a:rPr sz="1200" dirty="0" err="1">
                <a:latin typeface="Courier New"/>
              </a:rPr>
              <a:t>uuid</a:t>
            </a:r>
            <a:r>
              <a:rPr sz="1200" dirty="0">
                <a:latin typeface="Courier New"/>
              </a:rPr>
              <a:t>: UUID</a:t>
            </a:r>
          </a:p>
          <a:p>
            <a:r>
              <a:rPr sz="1200" dirty="0">
                <a:latin typeface="Courier New"/>
              </a:rPr>
              <a:t>    name: str</a:t>
            </a:r>
          </a:p>
          <a:p>
            <a:r>
              <a:rPr sz="1200" dirty="0">
                <a:latin typeface="Courier New"/>
              </a:rPr>
              <a:t>    status: str</a:t>
            </a:r>
          </a:p>
          <a:p>
            <a:r>
              <a:rPr sz="1200" dirty="0">
                <a:latin typeface="Courier New"/>
              </a:rPr>
              <a:t>    </a:t>
            </a:r>
            <a:r>
              <a:rPr sz="1200" dirty="0" err="1">
                <a:latin typeface="Courier New"/>
              </a:rPr>
              <a:t>sequencer_name</a:t>
            </a:r>
            <a:r>
              <a:rPr sz="1200" dirty="0">
                <a:latin typeface="Courier New"/>
              </a:rPr>
              <a:t>: str        # resolved via ORM relationship</a:t>
            </a:r>
          </a:p>
          <a:p>
            <a:r>
              <a:rPr sz="1200" dirty="0">
                <a:latin typeface="Courier New"/>
              </a:rPr>
              <a:t>    </a:t>
            </a:r>
            <a:r>
              <a:rPr sz="1200" dirty="0" err="1">
                <a:latin typeface="Courier New"/>
              </a:rPr>
              <a:t>sequencer_sent_to_tre</a:t>
            </a:r>
            <a:r>
              <a:rPr sz="1200" dirty="0">
                <a:latin typeface="Courier New"/>
              </a:rPr>
              <a:t>: str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293984"/>
            <a:ext cx="384048" cy="4154984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334A60"/>
                </a:solidFill>
                <a:latin typeface="Courier New"/>
              </a:rPr>
              <a:t>1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2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3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4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5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6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7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8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9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10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11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12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13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14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15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16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17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18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19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20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21</a:t>
            </a:r>
          </a:p>
          <a:p>
            <a:r>
              <a:rPr sz="1200" dirty="0">
                <a:solidFill>
                  <a:srgbClr val="334A60"/>
                </a:solidFill>
                <a:latin typeface="Courier New"/>
              </a:rP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298448"/>
            <a:ext cx="4434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Literal["auto","manual"] — rejected before hitting the DB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from_attributes=True — reads SQLAlchemy ORM objects directly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Joined field sequencer_name resolved via ORM relationship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Separate Create vs Show — internal IDs never exposed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422 Unprocessable Entity returned automatically on bad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4552" y="6523911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i="0" dirty="0"/>
              <a:t>5 / 10</a:t>
            </a:r>
          </a:p>
        </p:txBody>
      </p:sp>
      <p:pic>
        <p:nvPicPr>
          <p:cNvPr id="18" name="Picture 17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B0509F6-CA6D-59EA-30E9-41757D77D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978" y="88114"/>
            <a:ext cx="1397934" cy="10773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0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806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</a:rPr>
              <a:t>Database Layer: </a:t>
            </a:r>
            <a:r>
              <a:rPr sz="2700" b="1" i="0" dirty="0" err="1">
                <a:solidFill>
                  <a:srgbClr val="FFFFFF"/>
                </a:solidFill>
              </a:rPr>
              <a:t>SQLAlchemy</a:t>
            </a:r>
            <a:r>
              <a:rPr sz="2700" b="1" i="0" dirty="0">
                <a:solidFill>
                  <a:srgbClr val="FFFFFF"/>
                </a:solidFill>
              </a:rPr>
              <a:t> + Repository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640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chemeClr val="bg1"/>
                </a:solidFill>
              </a:rPr>
              <a:t>FastAPI</a:t>
            </a:r>
            <a:r>
              <a:rPr sz="1200" b="0" i="1" dirty="0">
                <a:solidFill>
                  <a:schemeClr val="bg1"/>
                </a:solidFill>
              </a:rPr>
              <a:t> stays thin; all DB logic lives in repositories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7040880" cy="434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344168"/>
            <a:ext cx="347472" cy="42976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389888"/>
            <a:ext cx="5153975" cy="28392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sz="1050" dirty="0">
                <a:latin typeface="Courier New"/>
              </a:rPr>
              <a:t># </a:t>
            </a:r>
            <a:r>
              <a:rPr sz="1050" dirty="0" err="1">
                <a:latin typeface="Courier New"/>
              </a:rPr>
              <a:t>db</a:t>
            </a:r>
            <a:r>
              <a:rPr sz="1050" dirty="0">
                <a:latin typeface="Courier New"/>
              </a:rPr>
              <a:t>/models/</a:t>
            </a:r>
            <a:r>
              <a:rPr sz="1050" dirty="0" err="1">
                <a:latin typeface="Courier New"/>
              </a:rPr>
              <a:t>runs.py</a:t>
            </a:r>
            <a:endParaRPr sz="1050" dirty="0">
              <a:latin typeface="Courier New"/>
            </a:endParaRPr>
          </a:p>
          <a:p>
            <a:r>
              <a:rPr sz="1050" b="1" dirty="0">
                <a:latin typeface="Courier New"/>
              </a:rPr>
              <a:t>class Runs(Base):</a:t>
            </a:r>
          </a:p>
          <a:p>
            <a:r>
              <a:rPr sz="1050" dirty="0">
                <a:latin typeface="Courier New"/>
              </a:rPr>
              <a:t>    __</a:t>
            </a:r>
            <a:r>
              <a:rPr sz="1050" dirty="0" err="1">
                <a:latin typeface="Courier New"/>
              </a:rPr>
              <a:t>tablename</a:t>
            </a:r>
            <a:r>
              <a:rPr sz="1050" dirty="0">
                <a:latin typeface="Courier New"/>
              </a:rPr>
              <a:t>__ = "runs"</a:t>
            </a:r>
          </a:p>
          <a:p>
            <a:r>
              <a:rPr sz="1050" dirty="0">
                <a:latin typeface="Courier New"/>
              </a:rPr>
              <a:t>    id             = Column(Integer, </a:t>
            </a:r>
            <a:r>
              <a:rPr sz="1050" dirty="0" err="1">
                <a:latin typeface="Courier New"/>
              </a:rPr>
              <a:t>primary_key</a:t>
            </a:r>
            <a:r>
              <a:rPr sz="1050" dirty="0">
                <a:latin typeface="Courier New"/>
              </a:rPr>
              <a:t>=True)</a:t>
            </a:r>
          </a:p>
          <a:p>
            <a:r>
              <a:rPr sz="1050" dirty="0">
                <a:latin typeface="Courier New"/>
              </a:rPr>
              <a:t>    </a:t>
            </a:r>
            <a:r>
              <a:rPr sz="1050" dirty="0" err="1">
                <a:latin typeface="Courier New"/>
              </a:rPr>
              <a:t>uuid</a:t>
            </a:r>
            <a:r>
              <a:rPr sz="1050" dirty="0">
                <a:latin typeface="Courier New"/>
              </a:rPr>
              <a:t>           = Column(UUID(</a:t>
            </a:r>
            <a:r>
              <a:rPr sz="1050" dirty="0" err="1">
                <a:latin typeface="Courier New"/>
              </a:rPr>
              <a:t>as_uuid</a:t>
            </a:r>
            <a:r>
              <a:rPr sz="1050" dirty="0">
                <a:latin typeface="Courier New"/>
              </a:rPr>
              <a:t>=True), unique=True,</a:t>
            </a:r>
          </a:p>
          <a:p>
            <a:r>
              <a:rPr sz="1050" dirty="0">
                <a:latin typeface="Courier New"/>
              </a:rPr>
              <a:t>                            index=True, default=uuid4)</a:t>
            </a:r>
          </a:p>
          <a:p>
            <a:r>
              <a:rPr sz="1050" dirty="0">
                <a:latin typeface="Courier New"/>
              </a:rPr>
              <a:t>    name           = Column(String, nullable=False)</a:t>
            </a:r>
          </a:p>
          <a:p>
            <a:r>
              <a:rPr sz="1050" dirty="0">
                <a:latin typeface="Courier New"/>
              </a:rPr>
              <a:t>    </a:t>
            </a:r>
            <a:r>
              <a:rPr sz="1050" dirty="0" err="1">
                <a:latin typeface="Courier New"/>
              </a:rPr>
              <a:t>sequencer_uuid</a:t>
            </a:r>
            <a:r>
              <a:rPr sz="1050" dirty="0">
                <a:latin typeface="Courier New"/>
              </a:rPr>
              <a:t> = Column(UUID(</a:t>
            </a:r>
            <a:r>
              <a:rPr sz="1050" dirty="0" err="1">
                <a:latin typeface="Courier New"/>
              </a:rPr>
              <a:t>as_uuid</a:t>
            </a:r>
            <a:r>
              <a:rPr sz="1050" dirty="0">
                <a:latin typeface="Courier New"/>
              </a:rPr>
              <a:t>=True),</a:t>
            </a:r>
          </a:p>
          <a:p>
            <a:r>
              <a:rPr sz="1050" dirty="0">
                <a:latin typeface="Courier New"/>
              </a:rPr>
              <a:t>                            </a:t>
            </a:r>
            <a:r>
              <a:rPr sz="1050" dirty="0" err="1">
                <a:latin typeface="Courier New"/>
              </a:rPr>
              <a:t>ForeignKey</a:t>
            </a:r>
            <a:r>
              <a:rPr sz="1050" dirty="0">
                <a:latin typeface="Courier New"/>
              </a:rPr>
              <a:t>("</a:t>
            </a:r>
            <a:r>
              <a:rPr sz="1050" dirty="0" err="1">
                <a:latin typeface="Courier New"/>
              </a:rPr>
              <a:t>sequencers.uuid</a:t>
            </a:r>
            <a:r>
              <a:rPr sz="1050" dirty="0">
                <a:latin typeface="Courier New"/>
              </a:rPr>
              <a:t>"))</a:t>
            </a:r>
          </a:p>
          <a:p>
            <a:r>
              <a:rPr sz="1050" dirty="0">
                <a:latin typeface="Courier New"/>
              </a:rPr>
              <a:t>    status         = Column(String, default="running")</a:t>
            </a:r>
          </a:p>
          <a:p>
            <a:endParaRPr sz="1050" dirty="0">
              <a:latin typeface="Courier New"/>
            </a:endParaRPr>
          </a:p>
          <a:p>
            <a:r>
              <a:rPr sz="1050" dirty="0">
                <a:latin typeface="Courier New"/>
              </a:rPr>
              <a:t># </a:t>
            </a:r>
            <a:r>
              <a:rPr sz="1050" dirty="0" err="1">
                <a:latin typeface="Courier New"/>
              </a:rPr>
              <a:t>db</a:t>
            </a:r>
            <a:r>
              <a:rPr sz="1050" dirty="0">
                <a:latin typeface="Courier New"/>
              </a:rPr>
              <a:t>/repositories/</a:t>
            </a:r>
            <a:r>
              <a:rPr sz="1050" dirty="0" err="1">
                <a:latin typeface="Courier New"/>
              </a:rPr>
              <a:t>runs.py</a:t>
            </a:r>
            <a:endParaRPr sz="1050" dirty="0">
              <a:latin typeface="Courier New"/>
            </a:endParaRPr>
          </a:p>
          <a:p>
            <a:r>
              <a:rPr sz="1050" b="1" dirty="0">
                <a:latin typeface="Courier New"/>
              </a:rPr>
              <a:t>def </a:t>
            </a:r>
            <a:r>
              <a:rPr sz="1050" b="1" dirty="0" err="1">
                <a:latin typeface="Courier New"/>
              </a:rPr>
              <a:t>update_run_status</a:t>
            </a:r>
            <a:r>
              <a:rPr sz="1050" b="1" dirty="0">
                <a:latin typeface="Courier New"/>
              </a:rPr>
              <a:t>(</a:t>
            </a:r>
            <a:r>
              <a:rPr sz="1050" b="1" dirty="0" err="1">
                <a:latin typeface="Courier New"/>
              </a:rPr>
              <a:t>db</a:t>
            </a:r>
            <a:r>
              <a:rPr sz="1050" b="1" dirty="0">
                <a:latin typeface="Courier New"/>
              </a:rPr>
              <a:t>, </a:t>
            </a:r>
            <a:r>
              <a:rPr sz="1050" b="1" dirty="0" err="1">
                <a:latin typeface="Courier New"/>
              </a:rPr>
              <a:t>run_uuid</a:t>
            </a:r>
            <a:r>
              <a:rPr sz="1050" b="1" dirty="0">
                <a:latin typeface="Courier New"/>
              </a:rPr>
              <a:t>, </a:t>
            </a:r>
            <a:r>
              <a:rPr sz="1050" b="1" dirty="0" err="1">
                <a:latin typeface="Courier New"/>
              </a:rPr>
              <a:t>new_status</a:t>
            </a:r>
            <a:r>
              <a:rPr sz="1050" b="1" dirty="0">
                <a:latin typeface="Courier New"/>
              </a:rPr>
              <a:t>):</a:t>
            </a:r>
          </a:p>
          <a:p>
            <a:r>
              <a:rPr sz="1050" dirty="0">
                <a:latin typeface="Courier New"/>
              </a:rPr>
              <a:t>    run = </a:t>
            </a:r>
            <a:r>
              <a:rPr sz="1050" dirty="0" err="1">
                <a:latin typeface="Courier New"/>
              </a:rPr>
              <a:t>db.query</a:t>
            </a:r>
            <a:r>
              <a:rPr sz="1050" dirty="0">
                <a:latin typeface="Courier New"/>
              </a:rPr>
              <a:t>(Runs).filter(</a:t>
            </a:r>
            <a:r>
              <a:rPr sz="1050" dirty="0" err="1">
                <a:latin typeface="Courier New"/>
              </a:rPr>
              <a:t>Runs.uuid</a:t>
            </a:r>
            <a:r>
              <a:rPr sz="1050" dirty="0">
                <a:latin typeface="Courier New"/>
              </a:rPr>
              <a:t> == </a:t>
            </a:r>
            <a:r>
              <a:rPr sz="1050" dirty="0" err="1">
                <a:latin typeface="Courier New"/>
              </a:rPr>
              <a:t>run_uuid</a:t>
            </a:r>
            <a:r>
              <a:rPr sz="1050" dirty="0">
                <a:latin typeface="Courier New"/>
              </a:rPr>
              <a:t>).first()</a:t>
            </a:r>
          </a:p>
          <a:p>
            <a:r>
              <a:rPr sz="1050" dirty="0">
                <a:latin typeface="Courier New"/>
              </a:rPr>
              <a:t>    </a:t>
            </a:r>
            <a:r>
              <a:rPr sz="1050" dirty="0" err="1">
                <a:latin typeface="Courier New"/>
              </a:rPr>
              <a:t>run.status</a:t>
            </a:r>
            <a:r>
              <a:rPr sz="1050" dirty="0">
                <a:latin typeface="Courier New"/>
              </a:rPr>
              <a:t> = </a:t>
            </a:r>
            <a:r>
              <a:rPr sz="1050" dirty="0" err="1">
                <a:latin typeface="Courier New"/>
              </a:rPr>
              <a:t>new_status</a:t>
            </a:r>
            <a:endParaRPr sz="1050" dirty="0">
              <a:latin typeface="Courier New"/>
            </a:endParaRPr>
          </a:p>
          <a:p>
            <a:r>
              <a:rPr sz="1050" dirty="0">
                <a:latin typeface="Courier New"/>
              </a:rPr>
              <a:t>    </a:t>
            </a:r>
            <a:r>
              <a:rPr sz="1050" dirty="0" err="1">
                <a:latin typeface="Courier New"/>
              </a:rPr>
              <a:t>db.commit</a:t>
            </a:r>
            <a:r>
              <a:rPr sz="1050" dirty="0">
                <a:latin typeface="Courier New"/>
              </a:rPr>
              <a:t>(); </a:t>
            </a:r>
            <a:r>
              <a:rPr sz="1050" dirty="0" err="1">
                <a:latin typeface="Courier New"/>
              </a:rPr>
              <a:t>db.refresh</a:t>
            </a:r>
            <a:r>
              <a:rPr sz="1050" dirty="0">
                <a:latin typeface="Courier New"/>
              </a:rPr>
              <a:t>(run)</a:t>
            </a:r>
          </a:p>
          <a:p>
            <a:r>
              <a:rPr sz="1050" dirty="0">
                <a:latin typeface="Courier New"/>
              </a:rPr>
              <a:t>    return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5" y="1389888"/>
            <a:ext cx="292608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334A60"/>
                </a:solidFill>
                <a:latin typeface="Courier New"/>
              </a:rPr>
              <a:t>1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2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3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4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5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6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7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8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9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10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11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12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13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14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15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16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379471"/>
            <a:ext cx="4434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Dual PK — integer id (internal) + uuid (API surface)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Soft deletes — is_deleted=True, rows are never removed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Repository pattern — DB ops isolated from routes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Alembic — versioned schema migrations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runs_status_history — permanent timestamped audit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523911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i="0" dirty="0"/>
              <a:t>6 / 10</a:t>
            </a:r>
          </a:p>
        </p:txBody>
      </p:sp>
      <p:pic>
        <p:nvPicPr>
          <p:cNvPr id="23" name="Picture 22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DAF8DAFB-F950-C252-9285-5A42E3EBD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978" y="88114"/>
            <a:ext cx="1397934" cy="10773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0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295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</a:rPr>
              <a:t>Async Event-Driven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640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 err="1">
                <a:solidFill>
                  <a:schemeClr val="bg1"/>
                </a:solidFill>
              </a:rPr>
              <a:t>FastAPI</a:t>
            </a:r>
            <a:r>
              <a:rPr sz="1200" b="0" i="1" dirty="0">
                <a:solidFill>
                  <a:schemeClr val="bg1"/>
                </a:solidFill>
              </a:rPr>
              <a:t> publishes events; a separate worker consumes them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6217920" cy="3794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62179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344168"/>
            <a:ext cx="347472" cy="37490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389888"/>
            <a:ext cx="4833374" cy="23544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dirty="0">
                <a:latin typeface="Courier New"/>
              </a:rPr>
              <a:t># services/</a:t>
            </a:r>
            <a:r>
              <a:rPr sz="1050" dirty="0" err="1">
                <a:latin typeface="Courier New"/>
              </a:rPr>
              <a:t>publisher.py</a:t>
            </a:r>
            <a:endParaRPr sz="1050" dirty="0">
              <a:latin typeface="Courier New"/>
            </a:endParaRPr>
          </a:p>
          <a:p>
            <a:r>
              <a:rPr sz="1050" b="1" dirty="0">
                <a:latin typeface="Courier New"/>
              </a:rPr>
              <a:t>def publish(event: str, name: str, </a:t>
            </a:r>
            <a:r>
              <a:rPr sz="1050" b="1" dirty="0" err="1">
                <a:latin typeface="Courier New"/>
              </a:rPr>
              <a:t>sequencer_uuid</a:t>
            </a:r>
            <a:r>
              <a:rPr sz="1050" b="1" dirty="0">
                <a:latin typeface="Courier New"/>
              </a:rPr>
              <a:t>: str):</a:t>
            </a:r>
          </a:p>
          <a:p>
            <a:r>
              <a:rPr sz="1050" dirty="0">
                <a:latin typeface="Courier New"/>
              </a:rPr>
              <a:t>    connection = </a:t>
            </a:r>
            <a:r>
              <a:rPr sz="1050" dirty="0" err="1">
                <a:latin typeface="Courier New"/>
              </a:rPr>
              <a:t>pika.BlockingConnection</a:t>
            </a:r>
            <a:r>
              <a:rPr sz="1050" dirty="0">
                <a:latin typeface="Courier New"/>
              </a:rPr>
              <a:t>(</a:t>
            </a:r>
          </a:p>
          <a:p>
            <a:r>
              <a:rPr sz="1050" dirty="0">
                <a:latin typeface="Courier New"/>
              </a:rPr>
              <a:t>        </a:t>
            </a:r>
            <a:r>
              <a:rPr sz="1050" dirty="0" err="1">
                <a:latin typeface="Courier New"/>
              </a:rPr>
              <a:t>pika.ConnectionParameters</a:t>
            </a:r>
            <a:r>
              <a:rPr sz="1050" dirty="0">
                <a:latin typeface="Courier New"/>
              </a:rPr>
              <a:t>(host=RABBITMQ_HOST))</a:t>
            </a:r>
          </a:p>
          <a:p>
            <a:r>
              <a:rPr sz="1050" dirty="0">
                <a:latin typeface="Courier New"/>
              </a:rPr>
              <a:t>    channel = </a:t>
            </a:r>
            <a:r>
              <a:rPr sz="1050" dirty="0" err="1">
                <a:latin typeface="Courier New"/>
              </a:rPr>
              <a:t>connection.channel</a:t>
            </a:r>
            <a:r>
              <a:rPr sz="1050" dirty="0">
                <a:latin typeface="Courier New"/>
              </a:rPr>
              <a:t>()</a:t>
            </a:r>
          </a:p>
          <a:p>
            <a:r>
              <a:rPr sz="1050" dirty="0">
                <a:latin typeface="Courier New"/>
              </a:rPr>
              <a:t>    </a:t>
            </a:r>
            <a:r>
              <a:rPr sz="1050" dirty="0" err="1">
                <a:latin typeface="Courier New"/>
              </a:rPr>
              <a:t>channel.queue_declare</a:t>
            </a:r>
            <a:r>
              <a:rPr sz="1050" dirty="0">
                <a:latin typeface="Courier New"/>
              </a:rPr>
              <a:t>(queue=QUEUE_NAME, durable=True)</a:t>
            </a:r>
          </a:p>
          <a:p>
            <a:r>
              <a:rPr sz="1050" dirty="0">
                <a:latin typeface="Courier New"/>
              </a:rPr>
              <a:t>    message = </a:t>
            </a:r>
            <a:r>
              <a:rPr sz="1050" dirty="0" err="1">
                <a:latin typeface="Courier New"/>
              </a:rPr>
              <a:t>json.dumps</a:t>
            </a:r>
            <a:r>
              <a:rPr sz="1050" dirty="0">
                <a:latin typeface="Courier New"/>
              </a:rPr>
              <a:t>({</a:t>
            </a:r>
          </a:p>
          <a:p>
            <a:r>
              <a:rPr sz="1050" dirty="0">
                <a:latin typeface="Courier New"/>
              </a:rPr>
              <a:t>        "event": event,</a:t>
            </a:r>
          </a:p>
          <a:p>
            <a:r>
              <a:rPr sz="1050" dirty="0">
                <a:latin typeface="Courier New"/>
              </a:rPr>
              <a:t>        "name": name,</a:t>
            </a:r>
          </a:p>
          <a:p>
            <a:r>
              <a:rPr sz="1050" dirty="0">
                <a:latin typeface="Courier New"/>
              </a:rPr>
              <a:t>        "</a:t>
            </a:r>
            <a:r>
              <a:rPr sz="1050" dirty="0" err="1">
                <a:latin typeface="Courier New"/>
              </a:rPr>
              <a:t>sequencer_uuid</a:t>
            </a:r>
            <a:r>
              <a:rPr sz="1050" dirty="0">
                <a:latin typeface="Courier New"/>
              </a:rPr>
              <a:t>": </a:t>
            </a:r>
            <a:r>
              <a:rPr sz="1050" dirty="0" err="1">
                <a:latin typeface="Courier New"/>
              </a:rPr>
              <a:t>sequencer_uuid</a:t>
            </a:r>
            <a:endParaRPr sz="1050" dirty="0">
              <a:latin typeface="Courier New"/>
            </a:endParaRPr>
          </a:p>
          <a:p>
            <a:r>
              <a:rPr sz="1050" dirty="0">
                <a:latin typeface="Courier New"/>
              </a:rPr>
              <a:t>    })</a:t>
            </a:r>
          </a:p>
          <a:p>
            <a:r>
              <a:rPr sz="1050" dirty="0">
                <a:latin typeface="Courier New"/>
              </a:rPr>
              <a:t>    </a:t>
            </a:r>
            <a:r>
              <a:rPr sz="1050" dirty="0" err="1">
                <a:latin typeface="Courier New"/>
              </a:rPr>
              <a:t>channel.basic_publish</a:t>
            </a:r>
            <a:r>
              <a:rPr sz="1050" dirty="0">
                <a:latin typeface="Courier New"/>
              </a:rPr>
              <a:t>(</a:t>
            </a:r>
          </a:p>
          <a:p>
            <a:r>
              <a:rPr sz="1050" dirty="0">
                <a:latin typeface="Courier New"/>
              </a:rPr>
              <a:t>        exchange="", </a:t>
            </a:r>
            <a:r>
              <a:rPr sz="1050" dirty="0" err="1">
                <a:latin typeface="Courier New"/>
              </a:rPr>
              <a:t>routing_key</a:t>
            </a:r>
            <a:r>
              <a:rPr sz="1050" dirty="0">
                <a:latin typeface="Courier New"/>
              </a:rPr>
              <a:t>=QUEUE_NAME, body=message)</a:t>
            </a:r>
          </a:p>
          <a:p>
            <a:r>
              <a:rPr sz="1050" dirty="0">
                <a:latin typeface="Courier New"/>
              </a:rPr>
              <a:t>    </a:t>
            </a:r>
            <a:r>
              <a:rPr sz="1050" dirty="0" err="1">
                <a:latin typeface="Courier New"/>
              </a:rPr>
              <a:t>connection.close</a:t>
            </a:r>
            <a:r>
              <a:rPr sz="1050" dirty="0">
                <a:latin typeface="Courier New"/>
              </a:rPr>
              <a:t>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5" y="1389888"/>
            <a:ext cx="344966" cy="23544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dirty="0">
                <a:solidFill>
                  <a:schemeClr val="bg1"/>
                </a:solidFill>
                <a:latin typeface="Courier New"/>
              </a:rPr>
              <a:t>1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2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3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4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5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6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7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8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9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10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11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12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13</a:t>
            </a:r>
          </a:p>
          <a:p>
            <a:r>
              <a:rPr sz="1050" dirty="0">
                <a:solidFill>
                  <a:schemeClr val="bg1"/>
                </a:solidFill>
                <a:latin typeface="Courier New"/>
              </a:rPr>
              <a:t>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298448"/>
            <a:ext cx="5166360" cy="3794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20840" y="1298448"/>
            <a:ext cx="5166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13716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Event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719072"/>
            <a:ext cx="4352474" cy="15645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latin typeface="Courier New"/>
              </a:rPr>
              <a:t>watcher detects RTAComplete.txt</a:t>
            </a:r>
          </a:p>
          <a:p>
            <a:pPr>
              <a:spcBef>
                <a:spcPts val="200"/>
              </a:spcBef>
            </a:pPr>
            <a:r>
              <a:rPr sz="1050">
                <a:latin typeface="Courier New"/>
              </a:rPr>
              <a:t>  -&gt; publishes  run_completed</a:t>
            </a:r>
          </a:p>
          <a:p>
            <a:pPr>
              <a:spcBef>
                <a:spcPts val="200"/>
              </a:spcBef>
            </a:pPr>
            <a:r>
              <a:rPr sz="1050">
                <a:latin typeface="Courier New"/>
              </a:rPr>
              <a:t>      -&gt; worker: status = running_finished</a:t>
            </a:r>
          </a:p>
          <a:p>
            <a:pPr>
              <a:spcBef>
                <a:spcPts val="200"/>
              </a:spcBef>
            </a:pPr>
            <a:r>
              <a:rPr sz="1050">
                <a:latin typeface="Courier New"/>
              </a:rPr>
              <a:t>          -&gt; publishes  run_checksum_requested</a:t>
            </a:r>
          </a:p>
          <a:p>
            <a:pPr>
              <a:spcBef>
                <a:spcPts val="200"/>
              </a:spcBef>
            </a:pPr>
            <a:r>
              <a:rPr sz="1050">
                <a:latin typeface="Courier New"/>
              </a:rPr>
              <a:t>              -&gt; worker: checksums folder</a:t>
            </a:r>
          </a:p>
          <a:p>
            <a:pPr>
              <a:spcBef>
                <a:spcPts val="200"/>
              </a:spcBef>
            </a:pPr>
            <a:r>
              <a:rPr sz="1050">
                <a:latin typeface="Courier New"/>
              </a:rPr>
              <a:t>                  -&gt; publishes  run_upload_requested</a:t>
            </a:r>
          </a:p>
          <a:p>
            <a:pPr>
              <a:spcBef>
                <a:spcPts val="200"/>
              </a:spcBef>
            </a:pPr>
            <a:r>
              <a:rPr sz="1050">
                <a:latin typeface="Courier New"/>
              </a:rPr>
              <a:t>                      -&gt; worker: S3 upload</a:t>
            </a:r>
          </a:p>
          <a:p>
            <a:pPr>
              <a:spcBef>
                <a:spcPts val="200"/>
              </a:spcBef>
            </a:pPr>
            <a:r>
              <a:rPr sz="1050">
                <a:latin typeface="Courier New"/>
              </a:rPr>
              <a:t>                          -&gt; status = completed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276088"/>
            <a:ext cx="115488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F172A"/>
                </a:solidFill>
              </a:rPr>
              <a:t>▸  HTTP response is instant — publish is fire-and-forget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F172A"/>
                </a:solidFill>
              </a:rPr>
              <a:t>▸  Worker is a separate container and scales independently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F172A"/>
                </a:solidFill>
              </a:rPr>
              <a:t>▸  Every status transition recorded in runs_status_history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4552" y="6523911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i="0"/>
              <a:t>7 / 10</a:t>
            </a:r>
          </a:p>
        </p:txBody>
      </p:sp>
      <p:pic>
        <p:nvPicPr>
          <p:cNvPr id="22" name="Picture 21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94C198A4-66E6-0E74-D486-7B0309BBB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978" y="88114"/>
            <a:ext cx="1397934" cy="10773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0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295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</a:rPr>
              <a:t>Filesystem Watcher as an Event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640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bg1"/>
                </a:solidFill>
              </a:rPr>
              <a:t>Bridging physical sequencer machines to the event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6492240" cy="44348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64922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344168"/>
            <a:ext cx="347472" cy="43891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389888"/>
            <a:ext cx="4833374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dirty="0">
                <a:latin typeface="Courier New"/>
              </a:rPr>
              <a:t># services/</a:t>
            </a:r>
            <a:r>
              <a:rPr sz="1050" dirty="0" err="1">
                <a:latin typeface="Courier New"/>
              </a:rPr>
              <a:t>watcher.py</a:t>
            </a:r>
            <a:endParaRPr sz="1050" dirty="0">
              <a:latin typeface="Courier New"/>
            </a:endParaRPr>
          </a:p>
          <a:p>
            <a:r>
              <a:rPr sz="1050" b="1" dirty="0">
                <a:latin typeface="Courier New"/>
              </a:rPr>
              <a:t>class </a:t>
            </a:r>
            <a:r>
              <a:rPr sz="1050" b="1" dirty="0" err="1">
                <a:latin typeface="Courier New"/>
              </a:rPr>
              <a:t>RunEventHandler</a:t>
            </a:r>
            <a:r>
              <a:rPr sz="1050" b="1" dirty="0">
                <a:latin typeface="Courier New"/>
              </a:rPr>
              <a:t>(</a:t>
            </a:r>
            <a:r>
              <a:rPr sz="1050" b="1" dirty="0" err="1">
                <a:latin typeface="Courier New"/>
              </a:rPr>
              <a:t>FileSystemEventHandler</a:t>
            </a:r>
            <a:r>
              <a:rPr sz="1050" b="1" dirty="0">
                <a:latin typeface="Courier New"/>
              </a:rPr>
              <a:t>):</a:t>
            </a:r>
          </a:p>
          <a:p>
            <a:r>
              <a:rPr sz="1050" dirty="0">
                <a:latin typeface="Courier New"/>
              </a:rPr>
              <a:t>    def </a:t>
            </a:r>
            <a:r>
              <a:rPr sz="1050" dirty="0" err="1">
                <a:latin typeface="Courier New"/>
              </a:rPr>
              <a:t>on_created</a:t>
            </a:r>
            <a:r>
              <a:rPr sz="1050" dirty="0">
                <a:latin typeface="Courier New"/>
              </a:rPr>
              <a:t>(self, event):</a:t>
            </a:r>
          </a:p>
          <a:p>
            <a:r>
              <a:rPr sz="1050" dirty="0">
                <a:latin typeface="Courier New"/>
              </a:rPr>
              <a:t>        path = Path(</a:t>
            </a:r>
            <a:r>
              <a:rPr sz="1050" dirty="0" err="1">
                <a:latin typeface="Courier New"/>
              </a:rPr>
              <a:t>event.src_path</a:t>
            </a:r>
            <a:r>
              <a:rPr sz="1050" dirty="0">
                <a:latin typeface="Courier New"/>
              </a:rPr>
              <a:t>)</a:t>
            </a:r>
          </a:p>
          <a:p>
            <a:r>
              <a:rPr sz="1050" dirty="0">
                <a:latin typeface="Courier New"/>
              </a:rPr>
              <a:t>        if </a:t>
            </a:r>
            <a:r>
              <a:rPr sz="1050" dirty="0" err="1">
                <a:latin typeface="Courier New"/>
              </a:rPr>
              <a:t>self.sequencer.is_completion_signal</a:t>
            </a:r>
            <a:r>
              <a:rPr sz="1050" dirty="0">
                <a:latin typeface="Courier New"/>
              </a:rPr>
              <a:t>(</a:t>
            </a:r>
            <a:r>
              <a:rPr sz="1050" dirty="0" err="1">
                <a:latin typeface="Courier New"/>
              </a:rPr>
              <a:t>path.name</a:t>
            </a:r>
            <a:r>
              <a:rPr sz="1050" dirty="0">
                <a:latin typeface="Courier New"/>
              </a:rPr>
              <a:t>):</a:t>
            </a:r>
          </a:p>
          <a:p>
            <a:r>
              <a:rPr sz="1050" dirty="0">
                <a:latin typeface="Courier New"/>
              </a:rPr>
              <a:t>            </a:t>
            </a:r>
            <a:r>
              <a:rPr sz="1050" dirty="0" err="1">
                <a:latin typeface="Courier New"/>
              </a:rPr>
              <a:t>run_name</a:t>
            </a:r>
            <a:r>
              <a:rPr sz="1050" dirty="0">
                <a:latin typeface="Courier New"/>
              </a:rPr>
              <a:t> = </a:t>
            </a:r>
            <a:r>
              <a:rPr sz="1050" dirty="0" err="1">
                <a:latin typeface="Courier New"/>
              </a:rPr>
              <a:t>path.parent.name</a:t>
            </a:r>
            <a:endParaRPr sz="1050" dirty="0">
              <a:latin typeface="Courier New"/>
            </a:endParaRPr>
          </a:p>
          <a:p>
            <a:r>
              <a:rPr sz="1050" dirty="0">
                <a:latin typeface="Courier New"/>
              </a:rPr>
              <a:t>            </a:t>
            </a:r>
            <a:r>
              <a:rPr sz="1050" dirty="0" err="1">
                <a:latin typeface="Courier New"/>
              </a:rPr>
              <a:t>publisher.publish</a:t>
            </a:r>
            <a:r>
              <a:rPr sz="1050" dirty="0">
                <a:latin typeface="Courier New"/>
              </a:rPr>
              <a:t>(</a:t>
            </a:r>
          </a:p>
          <a:p>
            <a:r>
              <a:rPr sz="1050" dirty="0">
                <a:latin typeface="Courier New"/>
              </a:rPr>
              <a:t>                "</a:t>
            </a:r>
            <a:r>
              <a:rPr sz="1050" dirty="0" err="1">
                <a:latin typeface="Courier New"/>
              </a:rPr>
              <a:t>run_completed</a:t>
            </a:r>
            <a:r>
              <a:rPr sz="1050" dirty="0">
                <a:latin typeface="Courier New"/>
              </a:rPr>
              <a:t>",</a:t>
            </a:r>
          </a:p>
          <a:p>
            <a:r>
              <a:rPr sz="1050" dirty="0">
                <a:latin typeface="Courier New"/>
              </a:rPr>
              <a:t>                </a:t>
            </a:r>
            <a:r>
              <a:rPr sz="1050" dirty="0" err="1">
                <a:latin typeface="Courier New"/>
              </a:rPr>
              <a:t>run_name</a:t>
            </a:r>
            <a:r>
              <a:rPr sz="1050" dirty="0">
                <a:latin typeface="Courier New"/>
              </a:rPr>
              <a:t>,</a:t>
            </a:r>
          </a:p>
          <a:p>
            <a:r>
              <a:rPr sz="1050" dirty="0">
                <a:latin typeface="Courier New"/>
              </a:rPr>
              <a:t>                str(</a:t>
            </a:r>
            <a:r>
              <a:rPr sz="1050" dirty="0" err="1">
                <a:latin typeface="Courier New"/>
              </a:rPr>
              <a:t>self.sequencer.uuid</a:t>
            </a:r>
            <a:r>
              <a:rPr sz="1050" dirty="0">
                <a:latin typeface="Courier New"/>
              </a:rPr>
              <a:t>))</a:t>
            </a:r>
          </a:p>
          <a:p>
            <a:endParaRPr sz="1050" dirty="0">
              <a:latin typeface="Courier New"/>
            </a:endParaRPr>
          </a:p>
          <a:p>
            <a:r>
              <a:rPr sz="1050" dirty="0">
                <a:latin typeface="Courier New"/>
              </a:rPr>
              <a:t>observer = </a:t>
            </a:r>
            <a:r>
              <a:rPr sz="1050" dirty="0" err="1">
                <a:latin typeface="Courier New"/>
              </a:rPr>
              <a:t>PollingObserver</a:t>
            </a:r>
            <a:r>
              <a:rPr sz="1050" dirty="0">
                <a:latin typeface="Courier New"/>
              </a:rPr>
              <a:t>(timeout=10)</a:t>
            </a:r>
          </a:p>
          <a:p>
            <a:r>
              <a:rPr sz="1050" dirty="0" err="1">
                <a:latin typeface="Courier New"/>
              </a:rPr>
              <a:t>observer.schedule</a:t>
            </a:r>
            <a:r>
              <a:rPr sz="1050" dirty="0">
                <a:latin typeface="Courier New"/>
              </a:rPr>
              <a:t>(handler,</a:t>
            </a:r>
          </a:p>
          <a:p>
            <a:r>
              <a:rPr sz="1050" dirty="0">
                <a:latin typeface="Courier New"/>
              </a:rPr>
              <a:t>                  path=</a:t>
            </a:r>
            <a:r>
              <a:rPr sz="1050" dirty="0" err="1">
                <a:latin typeface="Courier New"/>
              </a:rPr>
              <a:t>sequencer.location</a:t>
            </a:r>
            <a:r>
              <a:rPr sz="1050" dirty="0">
                <a:latin typeface="Courier New"/>
              </a:rPr>
              <a:t>,</a:t>
            </a:r>
          </a:p>
          <a:p>
            <a:r>
              <a:rPr sz="1050" dirty="0">
                <a:latin typeface="Courier New"/>
              </a:rPr>
              <a:t>                  recursive=True)</a:t>
            </a:r>
          </a:p>
          <a:p>
            <a:r>
              <a:rPr sz="1050" dirty="0" err="1">
                <a:latin typeface="Courier New"/>
              </a:rPr>
              <a:t>observer.start</a:t>
            </a:r>
            <a:r>
              <a:rPr sz="1050" dirty="0">
                <a:latin typeface="Courier New"/>
              </a:rPr>
              <a:t>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5" y="1389888"/>
            <a:ext cx="292608" cy="4297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334A60"/>
                </a:solidFill>
                <a:latin typeface="Courier New"/>
              </a:rPr>
              <a:t>1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2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3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4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5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6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7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8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9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10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11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12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13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14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15</a:t>
            </a:r>
          </a:p>
          <a:p>
            <a:r>
              <a:rPr sz="1050">
                <a:solidFill>
                  <a:srgbClr val="334A60"/>
                </a:solidFill>
                <a:latin typeface="Courier New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298448"/>
            <a:ext cx="4983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watchdog library with PollingObserver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75569"/>
                </a:solidFill>
              </a:rPr>
              <a:t>    ›  Polls every 10 s — reliable inside Docker on macOS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Configurable completion signal per sequencer type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75569"/>
                </a:solidFill>
              </a:rPr>
              <a:t>    ›  exact / prefix / suffix matching  (e.g. RTAComplete.txt)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Polls DB every 60 s for newly added sequencers</a:t>
            </a:r>
          </a:p>
          <a:p>
            <a:pPr>
              <a:spcBef>
                <a:spcPts val="200"/>
              </a:spcBef>
            </a:pPr>
            <a:r>
              <a:rPr sz="1250">
                <a:solidFill>
                  <a:srgbClr val="475569"/>
                </a:solidFill>
              </a:rPr>
              <a:t>    ›  No container restart needed after adding a sequencer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F172A"/>
                </a:solidFill>
              </a:rPr>
              <a:t>▸  Startup scan — catches runs that appeared while offline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4552" y="6523911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i="0" dirty="0"/>
              <a:t>8 / 10</a:t>
            </a:r>
          </a:p>
        </p:txBody>
      </p:sp>
      <p:pic>
        <p:nvPicPr>
          <p:cNvPr id="18" name="Picture 17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DCC516C7-58B9-9249-9B5F-A268FA8E4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978" y="88114"/>
            <a:ext cx="1397934" cy="10773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0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91799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</a:rPr>
              <a:t>Two </a:t>
            </a:r>
            <a:r>
              <a:rPr sz="2700" b="1" i="0" dirty="0" err="1">
                <a:solidFill>
                  <a:srgbClr val="FFFFFF"/>
                </a:solidFill>
              </a:rPr>
              <a:t>FastAPI</a:t>
            </a:r>
            <a:r>
              <a:rPr sz="2700" b="1" i="0" dirty="0">
                <a:solidFill>
                  <a:srgbClr val="FFFFFF"/>
                </a:solidFill>
              </a:rPr>
              <a:t> Services: API +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640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bg1"/>
                </a:solidFill>
              </a:rPr>
              <a:t>A clean split: one service owns data, one owns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5394960" cy="48646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298448"/>
            <a:ext cx="53949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9903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/>
              <a:t>Backend  :8000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47088"/>
            <a:ext cx="2877711" cy="26827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250" dirty="0" err="1">
                <a:latin typeface="Courier New"/>
              </a:rPr>
              <a:t>api</a:t>
            </a:r>
            <a:r>
              <a:rPr sz="1250" dirty="0">
                <a:latin typeface="Courier New"/>
              </a:rPr>
              <a:t>/v1/</a:t>
            </a:r>
            <a:r>
              <a:rPr sz="1250" dirty="0" err="1">
                <a:latin typeface="Courier New"/>
              </a:rPr>
              <a:t>runs.py</a:t>
            </a:r>
            <a:endParaRPr sz="1250" dirty="0"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  REST JSON API only</a:t>
            </a: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schemas/</a:t>
            </a: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  </a:t>
            </a:r>
            <a:r>
              <a:rPr sz="1250" dirty="0" err="1">
                <a:latin typeface="Courier New"/>
              </a:rPr>
              <a:t>Pydantic</a:t>
            </a:r>
            <a:r>
              <a:rPr sz="1250" dirty="0">
                <a:latin typeface="Courier New"/>
              </a:rPr>
              <a:t> contracts</a:t>
            </a:r>
          </a:p>
          <a:p>
            <a:pPr>
              <a:spcBef>
                <a:spcPts val="200"/>
              </a:spcBef>
            </a:pPr>
            <a:r>
              <a:rPr sz="1250" dirty="0" err="1">
                <a:latin typeface="Courier New"/>
              </a:rPr>
              <a:t>db</a:t>
            </a:r>
            <a:r>
              <a:rPr sz="1250" dirty="0">
                <a:latin typeface="Courier New"/>
              </a:rPr>
              <a:t>/</a:t>
            </a: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  </a:t>
            </a:r>
            <a:r>
              <a:rPr sz="1250" dirty="0" err="1">
                <a:latin typeface="Courier New"/>
              </a:rPr>
              <a:t>SQLAlchemy</a:t>
            </a:r>
            <a:r>
              <a:rPr sz="1250" dirty="0">
                <a:latin typeface="Courier New"/>
              </a:rPr>
              <a:t> + Alembic</a:t>
            </a: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services/</a:t>
            </a: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  publisher, worker, watcher</a:t>
            </a:r>
          </a:p>
          <a:p>
            <a:pPr>
              <a:spcBef>
                <a:spcPts val="200"/>
              </a:spcBef>
            </a:pPr>
            <a:endParaRPr sz="1250" dirty="0"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Speaks JSON only.</a:t>
            </a: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No HTML. No sessions.</a:t>
            </a: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Any client can consume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3429000"/>
            <a:ext cx="6126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/>
              <a:t>HTTP
(</a:t>
            </a:r>
            <a:r>
              <a:rPr sz="1100" b="1" dirty="0" err="1"/>
              <a:t>httpx</a:t>
            </a:r>
            <a:r>
              <a:rPr sz="1100" b="1" dirty="0"/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3952" y="1298448"/>
            <a:ext cx="5394960" cy="486460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73952" y="1298448"/>
            <a:ext cx="53949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56832" y="139903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/>
              <a:t>Frontend  :8001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1847088"/>
            <a:ext cx="3550972" cy="2464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routers/</a:t>
            </a:r>
            <a:r>
              <a:rPr sz="1250" dirty="0" err="1">
                <a:latin typeface="Courier New"/>
              </a:rPr>
              <a:t>runs.py</a:t>
            </a:r>
            <a:endParaRPr sz="1250" dirty="0"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  calls backend via </a:t>
            </a:r>
            <a:r>
              <a:rPr sz="1250" dirty="0" err="1">
                <a:latin typeface="Courier New"/>
              </a:rPr>
              <a:t>httpx</a:t>
            </a:r>
            <a:endParaRPr sz="1250" dirty="0"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templates/runs/</a:t>
            </a: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  Jinja2 HTML templates</a:t>
            </a:r>
          </a:p>
          <a:p>
            <a:pPr>
              <a:spcBef>
                <a:spcPts val="200"/>
              </a:spcBef>
            </a:pPr>
            <a:r>
              <a:rPr sz="1250" dirty="0" err="1">
                <a:latin typeface="Courier New"/>
              </a:rPr>
              <a:t>main.py</a:t>
            </a:r>
            <a:endParaRPr sz="1250" dirty="0"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  mounts /static, registers routers</a:t>
            </a:r>
          </a:p>
          <a:p>
            <a:pPr>
              <a:spcBef>
                <a:spcPts val="200"/>
              </a:spcBef>
            </a:pPr>
            <a:endParaRPr sz="1250" dirty="0"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Server-side rendering.</a:t>
            </a: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No DB connection.</a:t>
            </a: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Replace with React — backend</a:t>
            </a:r>
          </a:p>
          <a:p>
            <a:pPr>
              <a:spcBef>
                <a:spcPts val="200"/>
              </a:spcBef>
            </a:pPr>
            <a:r>
              <a:rPr sz="1250" dirty="0">
                <a:latin typeface="Courier New"/>
              </a:rPr>
              <a:t>stays unchanged.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552" y="6523911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i="0" dirty="0"/>
              <a:t>9 / 10</a:t>
            </a:r>
          </a:p>
        </p:txBody>
      </p:sp>
      <p:pic>
        <p:nvPicPr>
          <p:cNvPr id="21" name="Picture 20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CB83A0C2-BDB7-DCD8-FB73-CD28C93FF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978" y="88114"/>
            <a:ext cx="1397934" cy="10773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0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20295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 dirty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1640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bg1"/>
                </a:solidFill>
              </a:rPr>
              <a:t>What makes </a:t>
            </a:r>
            <a:r>
              <a:rPr sz="1200" b="0" i="1" dirty="0" err="1">
                <a:solidFill>
                  <a:schemeClr val="bg1"/>
                </a:solidFill>
              </a:rPr>
              <a:t>FastAPI</a:t>
            </a:r>
            <a:r>
              <a:rPr sz="1200" b="0" i="1" dirty="0">
                <a:solidFill>
                  <a:schemeClr val="bg1"/>
                </a:solidFill>
              </a:rPr>
              <a:t> the right choice as a gateway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11430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3429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chemeClr val="bg1"/>
                </a:solidFill>
              </a:rPr>
              <a:t>Concern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417320"/>
            <a:ext cx="772667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83080"/>
            <a:ext cx="3566160" cy="457200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86200" y="1783080"/>
            <a:ext cx="7863840" cy="457200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1783080"/>
            <a:ext cx="4572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86537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Request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865376"/>
            <a:ext cx="7726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Pydantic schemas with Python type hints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40280"/>
            <a:ext cx="35661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86200" y="2240280"/>
            <a:ext cx="78638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240280"/>
            <a:ext cx="4572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32257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DB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322576"/>
            <a:ext cx="7726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SQLAlchemy + Repository pattern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97480"/>
            <a:ext cx="3566160" cy="457200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86200" y="2697480"/>
            <a:ext cx="7863840" cy="457200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2697480"/>
            <a:ext cx="4572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277977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Async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779776"/>
            <a:ext cx="7726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RabbitMQ + dedicated worker container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154680"/>
            <a:ext cx="35661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86200" y="3154680"/>
            <a:ext cx="78638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154680"/>
            <a:ext cx="4572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323697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Physical event 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3236976"/>
            <a:ext cx="7726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watchdog filesystem monitor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611880"/>
            <a:ext cx="3566160" cy="457200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886200" y="3611880"/>
            <a:ext cx="7863840" cy="457200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3611880"/>
            <a:ext cx="4572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69417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Data integrity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3694176"/>
            <a:ext cx="7726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Dual id/uuid PKs  ·  soft deletes  ·  status history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069080"/>
            <a:ext cx="35661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886200" y="4069080"/>
            <a:ext cx="78638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4069080"/>
            <a:ext cx="4572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415137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Deployment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4151376"/>
            <a:ext cx="7726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</a:rPr>
              <a:t>Docker Compose — all services orchestrated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615" y="4671768"/>
            <a:ext cx="11430000" cy="1024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4680912"/>
            <a:ext cx="11430000" cy="642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4495" y="4916108"/>
            <a:ext cx="11274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/>
              <a:t>FastAPI</a:t>
            </a:r>
            <a:r>
              <a:rPr sz="1600" b="0" i="1" dirty="0"/>
              <a:t> stays thin — validate inputs, enforce state rules, publish events, return JSON. The async pipeline handles the rest. The result: a fully automated, auditable pipeline in Python.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4552" y="6523911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i="0" dirty="0"/>
              <a:t>10 / 10</a:t>
            </a:r>
          </a:p>
        </p:txBody>
      </p:sp>
      <p:pic>
        <p:nvPicPr>
          <p:cNvPr id="49" name="Picture 48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3A7BBE42-999F-9144-064D-1ECFB2D60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978" y="88114"/>
            <a:ext cx="1397934" cy="10773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3683-A5EA-4123-45F9-96CAC830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D60DC3-54B9-5773-E4A8-D0879423DE5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98B95-2162-4EDF-9984-14E14ACD08D3}"/>
              </a:ext>
            </a:extLst>
          </p:cNvPr>
          <p:cNvSpPr txBox="1"/>
          <p:nvPr/>
        </p:nvSpPr>
        <p:spPr>
          <a:xfrm>
            <a:off x="274256" y="2390565"/>
            <a:ext cx="116403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0" dirty="0">
                <a:solidFill>
                  <a:srgbClr val="FFFFFF"/>
                </a:solidFill>
              </a:rPr>
              <a:t>Thank YOU</a:t>
            </a:r>
            <a:endParaRPr sz="6600" b="1" i="0" dirty="0">
              <a:solidFill>
                <a:srgbClr val="FFFFFF"/>
              </a:solidFill>
            </a:endParaRPr>
          </a:p>
        </p:txBody>
      </p:sp>
      <p:pic>
        <p:nvPicPr>
          <p:cNvPr id="18" name="Picture 17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D442F071-542B-8404-0312-B902512C3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445" y="3429000"/>
            <a:ext cx="1397934" cy="107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72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1630</Words>
  <Application>Microsoft Macintosh PowerPoint</Application>
  <PresentationFormat>Custom</PresentationFormat>
  <Paragraphs>288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Alireza Dantism</cp:lastModifiedBy>
  <cp:revision>15</cp:revision>
  <dcterms:created xsi:type="dcterms:W3CDTF">2013-01-27T09:14:16Z</dcterms:created>
  <dcterms:modified xsi:type="dcterms:W3CDTF">2026-05-18T19:09:46Z</dcterms:modified>
  <cp:category/>
</cp:coreProperties>
</file>